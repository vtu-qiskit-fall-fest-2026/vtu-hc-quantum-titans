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200" b="1">
                <a:solidFill>
                  <a:srgbClr val="FFFFFF"/>
                </a:solidFill>
                <a:latin typeface="Aptos"/>
              </a:defRPr>
            </a:pPr>
            <a:r>
              <a:t>QubitSense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01952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38BDF8"/>
                </a:solidFill>
                <a:latin typeface="Aptos"/>
              </a:defRPr>
            </a:pPr>
            <a:r>
              <a:t>Quantum Kernel Intelligence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FFFFFF"/>
                </a:solidFill>
                <a:latin typeface="Aptos"/>
              </a:defRPr>
            </a:pPr>
            <a:r>
              <a:t>Beyond accuracy: reliability, robustness and quantum resource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CBD5E1"/>
                </a:solidFill>
                <a:latin typeface="Aptos"/>
              </a:defRPr>
            </a:pPr>
            <a:r>
              <a:t>QubitX | Qiskit Fall Fest 2026 | Track 4: Quantum + AI &amp;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CBD5E1"/>
                </a:solidFill>
                <a:latin typeface="Aptos"/>
              </a:defRPr>
            </a:pPr>
            <a:r>
              <a:t>Team: [Team name]  |  Members: [Member 1, Member 2]</a:t>
            </a:r>
          </a:p>
        </p:txBody>
      </p:sp>
      <p:sp>
        <p:nvSpPr>
          <p:cNvPr id="7" name="Oval 6"/>
          <p:cNvSpPr/>
          <p:nvPr/>
        </p:nvSpPr>
        <p:spPr>
          <a:xfrm>
            <a:off x="8869680" y="3931920"/>
            <a:ext cx="960120" cy="9601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75520" y="4389120"/>
            <a:ext cx="530352" cy="53035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469880" y="365760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01 |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87552"/>
            <a:ext cx="1143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ptos"/>
              </a:defRPr>
            </a:pPr>
            <a:r>
              <a:t>A single accuracy score is not enough to judge a quantum ML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Quantum-kernel classifiers can represent data using quantum feature maps, but their usefulness depends on the dataset and circuit design.</a:t>
            </a:r>
          </a:p>
          <a:p>
            <a:pPr>
              <a:spcAft>
                <a:spcPts val="13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One train/test split can produce a misleading result.</a:t>
            </a:r>
          </a:p>
          <a:p>
            <a:pPr>
              <a:spcAft>
                <a:spcPts val="13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Deeper circuits and quantum-kernel evaluations can add computational cost.</a:t>
            </a:r>
          </a:p>
          <a:p>
            <a:pPr>
              <a:spcAft>
                <a:spcPts val="13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Teams need a reproducible way to study performance, stability and resource trade-offs.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02 | Our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87552"/>
            <a:ext cx="1143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ptos"/>
              </a:defRPr>
            </a:pPr>
            <a:r>
              <a:t>A benchmarking workflow, not just a two-model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Matched comparison: classical RBF SVC versus multiple Qiskit quantum feature-map configurations.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Reliability: repeat experiments across fixed random seeds and report mean plus standard deviation.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Robustness: perturb held-out input features and measure performance degradation.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Resource inspection: report qubit count, decomposed circuit depth and gate count.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Decision support: summarize which model is most practical for this experiment, with limitations.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03 |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87552"/>
            <a:ext cx="1143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ptos"/>
              </a:defRPr>
            </a:pPr>
            <a:r>
              <a:t>Same dataset and evaluation protocol across the model variants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77440"/>
            <a:ext cx="1691640" cy="1051560"/>
          </a:xfrm>
          <a:prstGeom prst="roundRect">
            <a:avLst/>
          </a:prstGeom>
          <a:solidFill>
            <a:srgbClr val="2563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Iris 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2377440"/>
            <a:ext cx="16916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Scale + PCA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377440"/>
            <a:ext cx="1691640" cy="1051560"/>
          </a:xfrm>
          <a:prstGeom prst="roundRect">
            <a:avLst/>
          </a:prstGeom>
          <a:solidFill>
            <a:srgbClr val="2563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Classical SVC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2377440"/>
            <a:ext cx="16916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Quantum QSVC</a:t>
            </a:r>
            <a:br/>
            <a:r>
              <a:t>ZZ reps 1 /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72600" y="2377440"/>
            <a:ext cx="1691640" cy="1051560"/>
          </a:xfrm>
          <a:prstGeom prst="roundRect">
            <a:avLst/>
          </a:prstGeom>
          <a:solidFill>
            <a:srgbClr val="0D94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Metrics +</a:t>
            </a:r>
            <a:br/>
            <a:r>
              <a:t>advisor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67004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FFFFF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67004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FFFFF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7004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FFFFF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67004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FFFFF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CBD5E1"/>
                </a:solidFill>
                <a:latin typeface="Aptos"/>
              </a:defRPr>
            </a:pPr>
            <a:r>
              <a:t>Outputs: repeated-run metrics, clean/noisy comparison, circuit resource table, CSV files and a plain-language recommendation.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04 | Quantum Kernel Experiment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87552"/>
            <a:ext cx="1143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ptos"/>
              </a:defRPr>
            </a:pPr>
            <a:r>
              <a:t>What changes between the quantum configurations?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Encode two PCA features into two qubits using Qiskit feature maps.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Compare ZZFeatureMap with reps=1 against ZZFeatureMap with reps=2.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Build a fidelity quantum kernel and use QSVC for classification.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Record circuit depth and gate count as structural resource indicators.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These circuit metrics describe the circuit; they do not by themselves prove a speedup or advantage.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05 | Reliability &amp; Robustness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87552"/>
            <a:ext cx="1143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ptos"/>
              </a:defRPr>
            </a:pPr>
            <a:r>
              <a:t>Does the result survive a different split or mildly perturbed input?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Run the experiment with three fixed random seeds and report mean and standard deviation.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Apply controlled Gaussian perturbation to test features after training.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Compare clean accuracy with noisy-test accuracy for every model.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Use the same test examples and perturbation per split for matched model comparisons.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Interpret the result cautiously: simulated feature perturbation is not the same as physical quantum hardware noise.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06 |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87552"/>
            <a:ext cx="1143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ptos"/>
              </a:defRPr>
            </a:pPr>
            <a:r>
              <a:t>Replace this template with values from the notebook output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55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48840"/>
                <a:gridCol w="2148840"/>
                <a:gridCol w="1920240"/>
                <a:gridCol w="2468880"/>
              </a:tblGrid>
              <a:tr h="6400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Mean accuracy ± SD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Mean macro-F1 ± SD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Noisy accuracy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Mean fit time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Classical RBF SVC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Quantum ZZ reps=1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Quantum ZZ reps=2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0F172A"/>
                          </a:solidFill>
                          <a:latin typeface="Aptos"/>
                        </a:defRPr>
                      </a:pPr>
                      <a:r>
                        <a:t>[measured]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983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Aptos"/>
              </a:defRPr>
            </a:pPr>
            <a:r>
              <a:t>Do not submit placeholders. Add measured values, a chart and one evidence-based observation.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07 | Evidence-Based Model Advisor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87552"/>
            <a:ext cx="1143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ptos"/>
              </a:defRPr>
            </a:pPr>
            <a:r>
              <a:t>A recommendation with context, not a claim that quantum is always better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Rank models by mean macro-F1, while also showing variability and runtime.</a:t>
            </a:r>
          </a:p>
          <a:p>
            <a:pPr>
              <a:spcAft>
                <a:spcPts val="13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If a quantum model performs better, describe it as a result on this dataset and setup.</a:t>
            </a:r>
          </a:p>
          <a:p>
            <a:pPr>
              <a:spcAft>
                <a:spcPts val="13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If performance is similar, explain the classical model's practical simplicity and measured cost.</a:t>
            </a:r>
          </a:p>
          <a:p>
            <a:pPr>
              <a:spcAft>
                <a:spcPts val="13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Show the limitations and the conditions under which the recommendation may change.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08 | Limitations &amp; Scientific Honesty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87552"/>
            <a:ext cx="1143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ptos"/>
              </a:defRPr>
            </a:pPr>
            <a:r>
              <a:t>What this experiment can and cannot conclude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Small Iris sample: findings may not generalize to other datasets.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Three splits provide a stronger check than one split, but are not a large statistical study.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Input noise is simulated in feature space; no hardware-noise claim is made.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Simulator runtime is not a fair measure of real quantum hardware speed.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No quantum advantage is claimed without a suitable, rigorous comparison.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09 | 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987552"/>
            <a:ext cx="1143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ptos"/>
              </a:defRPr>
            </a:pPr>
            <a:r>
              <a:t>QubitSense AI makes quantum ML evaluation more transparent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Extends a basic SVC-versus-QSVC demo into a repeatable benchmark.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Studies performance, stability, robustness and circuit complexity together.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Future work: larger datasets, additional feature maps, formal statistical tests and real-device experiments.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Team roles: Member 1 - classical baseline, evaluation and charts; Member 2 - Qiskit circuits, resource analysis and documentation.</a:t>
            </a:r>
          </a:p>
          <a:p>
            <a:pPr>
              <a:spcAft>
                <a:spcPts val="13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Thank you |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